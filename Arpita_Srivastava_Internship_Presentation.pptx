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4B"/>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365760"/>
          </a:xfrm>
          <a:prstGeom prst="rect">
            <a:avLst/>
          </a:prstGeom>
          <a:noFill/>
          <a:ln/>
        </p:spPr>
        <p:txBody>
          <a:bodyPr wrap="square" lIns="0" tIns="0" rIns="0" bIns="0" rtlCol="0" anchor="ctr"/>
          <a:lstStyle/>
          <a:p>
            <a:pPr indent="0" marL="0">
              <a:buNone/>
            </a:pPr>
            <a:r>
              <a:rPr lang="en-US" sz="1600" dirty="0">
                <a:solidFill>
                  <a:srgbClr val="A9BCE3"/>
                </a:solidFill>
                <a:latin typeface="Calibri" pitchFamily="34" charset="0"/>
                <a:ea typeface="Calibri" pitchFamily="34" charset="-122"/>
                <a:cs typeface="Calibri" pitchFamily="34" charset="-120"/>
              </a:rPr>
              <a:t>Internship Report</a:t>
            </a:r>
            <a:endParaRPr lang="en-US" sz="1600" dirty="0"/>
          </a:p>
        </p:txBody>
      </p:sp>
      <p:sp>
        <p:nvSpPr>
          <p:cNvPr id="3" name="Text 1"/>
          <p:cNvSpPr txBox="1"/>
          <p:nvPr/>
        </p:nvSpPr>
        <p:spPr>
          <a:xfrm>
            <a:off x="548640" y="1051560"/>
            <a:ext cx="8046720" cy="11887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Internal Audit</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Virtual Internship</a:t>
            </a:r>
            <a:endParaRPr lang="en-US" sz="3600" dirty="0"/>
          </a:p>
        </p:txBody>
      </p:sp>
      <p:sp>
        <p:nvSpPr>
          <p:cNvPr id="4" name="Text 2"/>
          <p:cNvSpPr txBox="1"/>
          <p:nvPr/>
        </p:nvSpPr>
        <p:spPr>
          <a:xfrm>
            <a:off x="548640" y="2331720"/>
            <a:ext cx="804672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Goldman Sachs Job Simulation via Forage  |  September 2026</a:t>
            </a:r>
            <a:endParaRPr lang="en-US" sz="1500" dirty="0"/>
          </a:p>
        </p:txBody>
      </p:sp>
      <p:sp>
        <p:nvSpPr>
          <p:cNvPr id="5" name="Text 3"/>
          <p:cNvSpPr txBox="1"/>
          <p:nvPr/>
        </p:nvSpPr>
        <p:spPr>
          <a:xfrm>
            <a:off x="548640" y="2971800"/>
            <a:ext cx="8046720" cy="1463040"/>
          </a:xfrm>
          <a:prstGeom prst="rect">
            <a:avLst/>
          </a:prstGeom>
          <a:noFill/>
          <a:ln/>
        </p:spPr>
        <p:txBody>
          <a:bodyPr wrap="square" lIns="0" tIns="0" rIns="0" bIns="0" rtlCol="0" anchor="ctr"/>
          <a:lstStyle/>
          <a:p>
            <a:pPr indent="0" marL="0">
              <a:spcAft>
                <a:spcPts val="300"/>
              </a:spcAft>
              <a:buNone/>
            </a:pPr>
            <a:r>
              <a:rPr lang="en-US" sz="1400" b="1" dirty="0">
                <a:solidFill>
                  <a:srgbClr val="DCE5F7"/>
                </a:solidFill>
                <a:latin typeface="Calibri" pitchFamily="34" charset="0"/>
                <a:ea typeface="Calibri" pitchFamily="34" charset="-122"/>
                <a:cs typeface="Calibri" pitchFamily="34" charset="-120"/>
              </a:rPr>
              <a:t>Name: Arpita Srivastava</a:t>
            </a:r>
            <a:endParaRPr lang="en-US" sz="1400" dirty="0"/>
          </a:p>
          <a:p>
            <a:pPr indent="0" marL="0">
              <a:spcAft>
                <a:spcPts val="300"/>
              </a:spcAft>
              <a:buNone/>
            </a:pPr>
            <a:r>
              <a:rPr lang="en-US" sz="1400" dirty="0">
                <a:solidFill>
                  <a:srgbClr val="DCE5F7"/>
                </a:solidFill>
                <a:latin typeface="Calibri" pitchFamily="34" charset="0"/>
                <a:ea typeface="Calibri" pitchFamily="34" charset="-122"/>
                <a:cs typeface="Calibri" pitchFamily="34" charset="-120"/>
              </a:rPr>
              <a:t>Roll Number: 2410030177</a:t>
            </a:r>
            <a:endParaRPr lang="en-US" sz="1400" dirty="0"/>
          </a:p>
          <a:p>
            <a:pPr indent="0" marL="0">
              <a:spcAft>
                <a:spcPts val="300"/>
              </a:spcAft>
              <a:buNone/>
            </a:pPr>
            <a:r>
              <a:rPr lang="en-US" sz="1400" dirty="0">
                <a:solidFill>
                  <a:srgbClr val="DCE5F7"/>
                </a:solidFill>
                <a:latin typeface="Calibri" pitchFamily="34" charset="0"/>
                <a:ea typeface="Calibri" pitchFamily="34" charset="-122"/>
                <a:cs typeface="Calibri" pitchFamily="34" charset="-120"/>
              </a:rPr>
              <a:t>Batch: 2024-2028</a:t>
            </a:r>
            <a:endParaRPr lang="en-US" sz="1400" dirty="0"/>
          </a:p>
          <a:p>
            <a:pPr indent="0" marL="0">
              <a:spcAft>
                <a:spcPts val="300"/>
              </a:spcAft>
              <a:buNone/>
            </a:pPr>
            <a:r>
              <a:rPr lang="en-US" sz="1400" dirty="0">
                <a:solidFill>
                  <a:srgbClr val="DCE5F7"/>
                </a:solidFill>
                <a:latin typeface="Calibri" pitchFamily="34" charset="0"/>
                <a:ea typeface="Calibri" pitchFamily="34" charset="-122"/>
                <a:cs typeface="Calibri" pitchFamily="34" charset="-120"/>
              </a:rPr>
              <a:t>B.Tech (Computer Science and Engineering)</a:t>
            </a:r>
            <a:endParaRPr lang="en-US" sz="1400" dirty="0"/>
          </a:p>
          <a:p>
            <a:pPr indent="0" marL="0">
              <a:spcAft>
                <a:spcPts val="300"/>
              </a:spcAft>
              <a:buNone/>
            </a:pPr>
            <a:r>
              <a:rPr lang="en-US" sz="1400" dirty="0">
                <a:solidFill>
                  <a:srgbClr val="DCE5F7"/>
                </a:solidFill>
                <a:latin typeface="Calibri" pitchFamily="34" charset="0"/>
                <a:ea typeface="Calibri" pitchFamily="34" charset="-122"/>
                <a:cs typeface="Calibri" pitchFamily="34" charset="-120"/>
              </a:rPr>
              <a:t>School of Computer Science and Engineering, IILM University, Greater Noida, U.P.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84B"/>
                </a:solidFill>
                <a:latin typeface="Calibri" pitchFamily="34" charset="0"/>
                <a:ea typeface="Calibri" pitchFamily="34" charset="-122"/>
                <a:cs typeface="Calibri" pitchFamily="34" charset="-120"/>
              </a:rPr>
              <a:t>Introduction &amp; Organization Profile</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Arpita Srivastava | 2410030177 | IILM University</a:t>
            </a:r>
            <a:endParaRPr lang="en-US" sz="1000" dirty="0"/>
          </a:p>
        </p:txBody>
      </p:sp>
      <p:sp>
        <p:nvSpPr>
          <p:cNvPr id="4" name="Shape 2"/>
          <p:cNvSpPr/>
          <p:nvPr/>
        </p:nvSpPr>
        <p:spPr>
          <a:xfrm>
            <a:off x="457200" y="1051560"/>
            <a:ext cx="4023360" cy="3474720"/>
          </a:xfrm>
          <a:prstGeom prst="roundRect">
            <a:avLst>
              <a:gd name="adj" fmla="val 2105"/>
            </a:avLst>
          </a:prstGeom>
          <a:solidFill>
            <a:srgbClr val="EEF2FA"/>
          </a:solidFill>
          <a:ln w="12700">
            <a:solidFill>
              <a:srgbClr val="EEF2FA"/>
            </a:solidFill>
            <a:prstDash val="solid"/>
          </a:ln>
        </p:spPr>
      </p:sp>
      <p:sp>
        <p:nvSpPr>
          <p:cNvPr id="5" name="Text 3"/>
          <p:cNvSpPr txBox="1"/>
          <p:nvPr/>
        </p:nvSpPr>
        <p:spPr>
          <a:xfrm>
            <a:off x="640080" y="1188720"/>
            <a:ext cx="3657600" cy="320040"/>
          </a:xfrm>
          <a:prstGeom prst="rect">
            <a:avLst/>
          </a:prstGeom>
          <a:noFill/>
          <a:ln/>
        </p:spPr>
        <p:txBody>
          <a:bodyPr wrap="square" lIns="0" tIns="0" rIns="0" bIns="0" rtlCol="0" anchor="ctr"/>
          <a:lstStyle/>
          <a:p>
            <a:pPr indent="0" marL="0">
              <a:buNone/>
            </a:pPr>
            <a:r>
              <a:rPr lang="en-US" sz="1500" b="1" dirty="0">
                <a:solidFill>
                  <a:srgbClr val="4569B0"/>
                </a:solidFill>
                <a:latin typeface="Calibri" pitchFamily="34" charset="0"/>
                <a:ea typeface="Calibri" pitchFamily="34" charset="-122"/>
                <a:cs typeface="Calibri" pitchFamily="34" charset="-120"/>
              </a:rPr>
              <a:t>Introduction</a:t>
            </a:r>
            <a:endParaRPr lang="en-US" sz="1500" dirty="0"/>
          </a:p>
        </p:txBody>
      </p:sp>
      <p:sp>
        <p:nvSpPr>
          <p:cNvPr id="6" name="Text 4"/>
          <p:cNvSpPr txBox="1"/>
          <p:nvPr/>
        </p:nvSpPr>
        <p:spPr>
          <a:xfrm>
            <a:off x="640080" y="1554480"/>
            <a:ext cx="3657600" cy="28346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Virtual job simulation completed on the Forage platform with Goldman Sachs</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Domain: internal audit and risk assessment</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Applied to a global banking and markets business context</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Completed as part of the B.Tech (CSE) curriculum at IILM University</a:t>
            </a:r>
            <a:endParaRPr lang="en-US" sz="1250" dirty="0"/>
          </a:p>
        </p:txBody>
      </p:sp>
      <p:sp>
        <p:nvSpPr>
          <p:cNvPr id="7" name="Shape 5"/>
          <p:cNvSpPr/>
          <p:nvPr/>
        </p:nvSpPr>
        <p:spPr>
          <a:xfrm>
            <a:off x="4663440" y="1051560"/>
            <a:ext cx="4023360" cy="3474720"/>
          </a:xfrm>
          <a:prstGeom prst="roundRect">
            <a:avLst>
              <a:gd name="adj" fmla="val 2105"/>
            </a:avLst>
          </a:prstGeom>
          <a:solidFill>
            <a:srgbClr val="EEF2FA"/>
          </a:solidFill>
          <a:ln w="12700">
            <a:solidFill>
              <a:srgbClr val="EEF2FA"/>
            </a:solidFill>
            <a:prstDash val="solid"/>
          </a:ln>
        </p:spPr>
      </p:sp>
      <p:sp>
        <p:nvSpPr>
          <p:cNvPr id="8" name="Text 6"/>
          <p:cNvSpPr txBox="1"/>
          <p:nvPr/>
        </p:nvSpPr>
        <p:spPr>
          <a:xfrm>
            <a:off x="4846320" y="1188720"/>
            <a:ext cx="3657600" cy="320040"/>
          </a:xfrm>
          <a:prstGeom prst="rect">
            <a:avLst/>
          </a:prstGeom>
          <a:noFill/>
          <a:ln/>
        </p:spPr>
        <p:txBody>
          <a:bodyPr wrap="square" lIns="0" tIns="0" rIns="0" bIns="0" rtlCol="0" anchor="ctr"/>
          <a:lstStyle/>
          <a:p>
            <a:pPr indent="0" marL="0">
              <a:buNone/>
            </a:pPr>
            <a:r>
              <a:rPr lang="en-US" sz="1500" b="1" dirty="0">
                <a:solidFill>
                  <a:srgbClr val="4569B0"/>
                </a:solidFill>
                <a:latin typeface="Calibri" pitchFamily="34" charset="0"/>
                <a:ea typeface="Calibri" pitchFamily="34" charset="-122"/>
                <a:cs typeface="Calibri" pitchFamily="34" charset="-120"/>
              </a:rPr>
              <a:t>Organization Profile</a:t>
            </a:r>
            <a:endParaRPr lang="en-US" sz="1500" dirty="0"/>
          </a:p>
        </p:txBody>
      </p:sp>
      <p:sp>
        <p:nvSpPr>
          <p:cNvPr id="9" name="Text 7"/>
          <p:cNvSpPr txBox="1"/>
          <p:nvPr/>
        </p:nvSpPr>
        <p:spPr>
          <a:xfrm>
            <a:off x="4846320" y="1554480"/>
            <a:ext cx="3657600" cy="28346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Forage: global virtual work-experience platform offering free, self-paced job simulations with leading companies</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Goldman Sachs: leading global investment banking, securities and investment management firm, founded in 1869</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Certificate of Completion issued by Forage on September 20, 2026</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84B"/>
                </a:solidFill>
                <a:latin typeface="Calibri" pitchFamily="34" charset="0"/>
                <a:ea typeface="Calibri" pitchFamily="34" charset="-122"/>
                <a:cs typeface="Calibri" pitchFamily="34" charset="-120"/>
              </a:rPr>
              <a:t>Problem Statement &amp; Objectives</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Arpita Srivastava | 2410030177 | IILM University</a:t>
            </a:r>
            <a:endParaRPr lang="en-US" sz="1000" dirty="0"/>
          </a:p>
        </p:txBody>
      </p:sp>
      <p:sp>
        <p:nvSpPr>
          <p:cNvPr id="4" name="Shape 2"/>
          <p:cNvSpPr/>
          <p:nvPr/>
        </p:nvSpPr>
        <p:spPr>
          <a:xfrm>
            <a:off x="457200" y="1051560"/>
            <a:ext cx="3657600" cy="3474720"/>
          </a:xfrm>
          <a:prstGeom prst="roundRect">
            <a:avLst>
              <a:gd name="adj" fmla="val 2105"/>
            </a:avLst>
          </a:prstGeom>
          <a:solidFill>
            <a:srgbClr val="EEF2FA"/>
          </a:solidFill>
          <a:ln w="12700">
            <a:solidFill>
              <a:srgbClr val="EEF2FA"/>
            </a:solidFill>
            <a:prstDash val="solid"/>
          </a:ln>
        </p:spPr>
      </p:sp>
      <p:sp>
        <p:nvSpPr>
          <p:cNvPr id="5" name="Text 3"/>
          <p:cNvSpPr txBox="1"/>
          <p:nvPr/>
        </p:nvSpPr>
        <p:spPr>
          <a:xfrm>
            <a:off x="640080" y="1188720"/>
            <a:ext cx="3291840" cy="320040"/>
          </a:xfrm>
          <a:prstGeom prst="rect">
            <a:avLst/>
          </a:prstGeom>
          <a:noFill/>
          <a:ln/>
        </p:spPr>
        <p:txBody>
          <a:bodyPr wrap="square" lIns="0" tIns="0" rIns="0" bIns="0" rtlCol="0" anchor="ctr"/>
          <a:lstStyle/>
          <a:p>
            <a:pPr indent="0" marL="0">
              <a:buNone/>
            </a:pPr>
            <a:r>
              <a:rPr lang="en-US" sz="1500" b="1" dirty="0">
                <a:solidFill>
                  <a:srgbClr val="4569B0"/>
                </a:solidFill>
                <a:latin typeface="Calibri" pitchFamily="34" charset="0"/>
                <a:ea typeface="Calibri" pitchFamily="34" charset="-122"/>
                <a:cs typeface="Calibri" pitchFamily="34" charset="-120"/>
              </a:rPr>
              <a:t>Problem Statement</a:t>
            </a:r>
            <a:endParaRPr lang="en-US" sz="1500" dirty="0"/>
          </a:p>
        </p:txBody>
      </p:sp>
      <p:sp>
        <p:nvSpPr>
          <p:cNvPr id="6" name="Text 4"/>
          <p:cNvSpPr txBox="1"/>
          <p:nvPr/>
        </p:nvSpPr>
        <p:spPr>
          <a:xfrm>
            <a:off x="640080" y="1554480"/>
            <a:ext cx="3291840" cy="2834640"/>
          </a:xfrm>
          <a:prstGeom prst="rect">
            <a:avLst/>
          </a:prstGeom>
          <a:noFill/>
          <a:ln/>
        </p:spPr>
        <p:txBody>
          <a:bodyPr wrap="square" lIns="0" tIns="0" rIns="0" bIns="0" rtlCol="0" anchor="t"/>
          <a:lstStyle/>
          <a:p>
            <a:pPr indent="0" marL="0">
              <a:spcAft>
                <a:spcPts val="400"/>
              </a:spcAft>
              <a:buNone/>
            </a:pPr>
            <a:r>
              <a:rPr lang="en-US" sz="1250" dirty="0">
                <a:solidFill>
                  <a:srgbClr val="1F2937"/>
                </a:solidFill>
                <a:latin typeface="Calibri" pitchFamily="34" charset="0"/>
                <a:ea typeface="Calibri" pitchFamily="34" charset="-122"/>
                <a:cs typeface="Calibri" pitchFamily="34" charset="-120"/>
              </a:rPr>
              <a:t>Large financial institutions operate in complex, regulated environments where weak controls can cause financial loss and reputational damage. Internal audit independently checks that risks are managed well. Students rarely get hands-on exposure to this, so the internship aimed to learn and apply audit foundations and risk assessment in a global banking setting.</a:t>
            </a:r>
            <a:endParaRPr lang="en-US" sz="1250" dirty="0"/>
          </a:p>
        </p:txBody>
      </p:sp>
      <p:sp>
        <p:nvSpPr>
          <p:cNvPr id="7" name="Shape 5"/>
          <p:cNvSpPr/>
          <p:nvPr/>
        </p:nvSpPr>
        <p:spPr>
          <a:xfrm>
            <a:off x="4297680" y="1051560"/>
            <a:ext cx="4389120" cy="3474720"/>
          </a:xfrm>
          <a:prstGeom prst="roundRect">
            <a:avLst>
              <a:gd name="adj" fmla="val 2105"/>
            </a:avLst>
          </a:prstGeom>
          <a:solidFill>
            <a:srgbClr val="EEF2FA"/>
          </a:solidFill>
          <a:ln w="12700">
            <a:solidFill>
              <a:srgbClr val="EEF2FA"/>
            </a:solidFill>
            <a:prstDash val="solid"/>
          </a:ln>
        </p:spPr>
      </p:sp>
      <p:sp>
        <p:nvSpPr>
          <p:cNvPr id="8" name="Text 6"/>
          <p:cNvSpPr txBox="1"/>
          <p:nvPr/>
        </p:nvSpPr>
        <p:spPr>
          <a:xfrm>
            <a:off x="4480560" y="1188720"/>
            <a:ext cx="4023360" cy="320040"/>
          </a:xfrm>
          <a:prstGeom prst="rect">
            <a:avLst/>
          </a:prstGeom>
          <a:noFill/>
          <a:ln/>
        </p:spPr>
        <p:txBody>
          <a:bodyPr wrap="square" lIns="0" tIns="0" rIns="0" bIns="0" rtlCol="0" anchor="ctr"/>
          <a:lstStyle/>
          <a:p>
            <a:pPr indent="0" marL="0">
              <a:buNone/>
            </a:pPr>
            <a:r>
              <a:rPr lang="en-US" sz="1500" b="1" dirty="0">
                <a:solidFill>
                  <a:srgbClr val="4569B0"/>
                </a:solidFill>
                <a:latin typeface="Calibri" pitchFamily="34" charset="0"/>
                <a:ea typeface="Calibri" pitchFamily="34" charset="-122"/>
                <a:cs typeface="Calibri" pitchFamily="34" charset="-120"/>
              </a:rPr>
              <a:t>Project Objectives</a:t>
            </a:r>
            <a:endParaRPr lang="en-US" sz="1500" dirty="0"/>
          </a:p>
        </p:txBody>
      </p:sp>
      <p:sp>
        <p:nvSpPr>
          <p:cNvPr id="9" name="Text 7"/>
          <p:cNvSpPr txBox="1"/>
          <p:nvPr/>
        </p:nvSpPr>
        <p:spPr>
          <a:xfrm>
            <a:off x="4480560" y="1554480"/>
            <a:ext cx="4023360" cy="28346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Understand the role and purpose of internal audit</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Learn the stages of an audit engagement</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Understand the risk-based approach to audit</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Identify and assess key risks in global banking and markets</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Communicate findings clearly and professionally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84B"/>
                </a:solidFill>
                <a:latin typeface="Calibri" pitchFamily="34" charset="0"/>
                <a:ea typeface="Calibri" pitchFamily="34" charset="-122"/>
                <a:cs typeface="Calibri" pitchFamily="34" charset="-120"/>
              </a:rPr>
              <a:t>Scope of the Project &amp; Tools Used</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Arpita Srivastava | 2410030177 | IILM University</a:t>
            </a:r>
            <a:endParaRPr lang="en-US" sz="1000" dirty="0"/>
          </a:p>
        </p:txBody>
      </p:sp>
      <p:sp>
        <p:nvSpPr>
          <p:cNvPr id="4" name="Shape 2"/>
          <p:cNvSpPr/>
          <p:nvPr/>
        </p:nvSpPr>
        <p:spPr>
          <a:xfrm>
            <a:off x="457200" y="1051560"/>
            <a:ext cx="4023360" cy="3474720"/>
          </a:xfrm>
          <a:prstGeom prst="roundRect">
            <a:avLst>
              <a:gd name="adj" fmla="val 2105"/>
            </a:avLst>
          </a:prstGeom>
          <a:solidFill>
            <a:srgbClr val="EEF2FA"/>
          </a:solidFill>
          <a:ln w="12700">
            <a:solidFill>
              <a:srgbClr val="EEF2FA"/>
            </a:solidFill>
            <a:prstDash val="solid"/>
          </a:ln>
        </p:spPr>
      </p:sp>
      <p:sp>
        <p:nvSpPr>
          <p:cNvPr id="5" name="Text 3"/>
          <p:cNvSpPr txBox="1"/>
          <p:nvPr/>
        </p:nvSpPr>
        <p:spPr>
          <a:xfrm>
            <a:off x="640080" y="1188720"/>
            <a:ext cx="3657600" cy="320040"/>
          </a:xfrm>
          <a:prstGeom prst="rect">
            <a:avLst/>
          </a:prstGeom>
          <a:noFill/>
          <a:ln/>
        </p:spPr>
        <p:txBody>
          <a:bodyPr wrap="square" lIns="0" tIns="0" rIns="0" bIns="0" rtlCol="0" anchor="ctr"/>
          <a:lstStyle/>
          <a:p>
            <a:pPr indent="0" marL="0">
              <a:buNone/>
            </a:pPr>
            <a:r>
              <a:rPr lang="en-US" sz="1500" b="1" dirty="0">
                <a:solidFill>
                  <a:srgbClr val="4569B0"/>
                </a:solidFill>
                <a:latin typeface="Calibri" pitchFamily="34" charset="0"/>
                <a:ea typeface="Calibri" pitchFamily="34" charset="-122"/>
                <a:cs typeface="Calibri" pitchFamily="34" charset="-120"/>
              </a:rPr>
              <a:t>Scope</a:t>
            </a:r>
            <a:endParaRPr lang="en-US" sz="1500" dirty="0"/>
          </a:p>
        </p:txBody>
      </p:sp>
      <p:sp>
        <p:nvSpPr>
          <p:cNvPr id="6" name="Text 4"/>
          <p:cNvSpPr txBox="1"/>
          <p:nvPr/>
        </p:nvSpPr>
        <p:spPr>
          <a:xfrm>
            <a:off x="640080" y="1554480"/>
            <a:ext cx="3657600" cy="28346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Foundations of internal audit</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Risk assessment in global banking and markets</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Virtual, simulation-based learning environment</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No live audit engagement or access to confidential data</a:t>
            </a:r>
            <a:endParaRPr lang="en-US" sz="1250" dirty="0"/>
          </a:p>
        </p:txBody>
      </p:sp>
      <p:sp>
        <p:nvSpPr>
          <p:cNvPr id="7" name="Shape 5"/>
          <p:cNvSpPr/>
          <p:nvPr/>
        </p:nvSpPr>
        <p:spPr>
          <a:xfrm>
            <a:off x="4663440" y="1051560"/>
            <a:ext cx="4023360" cy="3474720"/>
          </a:xfrm>
          <a:prstGeom prst="roundRect">
            <a:avLst>
              <a:gd name="adj" fmla="val 2105"/>
            </a:avLst>
          </a:prstGeom>
          <a:solidFill>
            <a:srgbClr val="EEF2FA"/>
          </a:solidFill>
          <a:ln w="12700">
            <a:solidFill>
              <a:srgbClr val="EEF2FA"/>
            </a:solidFill>
            <a:prstDash val="solid"/>
          </a:ln>
        </p:spPr>
      </p:sp>
      <p:sp>
        <p:nvSpPr>
          <p:cNvPr id="8" name="Text 6"/>
          <p:cNvSpPr txBox="1"/>
          <p:nvPr/>
        </p:nvSpPr>
        <p:spPr>
          <a:xfrm>
            <a:off x="4846320" y="1188720"/>
            <a:ext cx="3657600" cy="320040"/>
          </a:xfrm>
          <a:prstGeom prst="rect">
            <a:avLst/>
          </a:prstGeom>
          <a:noFill/>
          <a:ln/>
        </p:spPr>
        <p:txBody>
          <a:bodyPr wrap="square" lIns="0" tIns="0" rIns="0" bIns="0" rtlCol="0" anchor="ctr"/>
          <a:lstStyle/>
          <a:p>
            <a:pPr indent="0" marL="0">
              <a:buNone/>
            </a:pPr>
            <a:r>
              <a:rPr lang="en-US" sz="1500" b="1" dirty="0">
                <a:solidFill>
                  <a:srgbClr val="4569B0"/>
                </a:solidFill>
                <a:latin typeface="Calibri" pitchFamily="34" charset="0"/>
                <a:ea typeface="Calibri" pitchFamily="34" charset="-122"/>
                <a:cs typeface="Calibri" pitchFamily="34" charset="-120"/>
              </a:rPr>
              <a:t>Concepts &amp; Tools</a:t>
            </a:r>
            <a:endParaRPr lang="en-US" sz="1500" dirty="0"/>
          </a:p>
        </p:txBody>
      </p:sp>
      <p:sp>
        <p:nvSpPr>
          <p:cNvPr id="9" name="Text 7"/>
          <p:cNvSpPr txBox="1"/>
          <p:nvPr/>
        </p:nvSpPr>
        <p:spPr>
          <a:xfrm>
            <a:off x="4846320" y="1554480"/>
            <a:ext cx="3657600" cy="283464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Risk-based audit approach and audit lifecycle</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Risk rating by likelihood and impact</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Internal controls and roles in risk management</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Word processing and spreadsheet tools for documentation</a:t>
            </a:r>
            <a:endParaRPr lang="en-US" sz="1250" dirty="0"/>
          </a:p>
          <a:p>
            <a:pPr marL="342900" indent="-342900">
              <a:spcAft>
                <a:spcPts val="400"/>
              </a:spcAft>
              <a:buSzPct val="100000"/>
              <a:buChar char="•"/>
            </a:pPr>
            <a:r>
              <a:rPr lang="en-US" sz="1250" dirty="0">
                <a:solidFill>
                  <a:srgbClr val="1F2937"/>
                </a:solidFill>
                <a:latin typeface="Calibri" pitchFamily="34" charset="0"/>
                <a:ea typeface="Calibri" pitchFamily="34" charset="-122"/>
                <a:cs typeface="Calibri" pitchFamily="34" charset="-120"/>
              </a:rPr>
              <a:t>Platform: Forage Virtual Work Experience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84B"/>
                </a:solidFill>
                <a:latin typeface="Calibri" pitchFamily="34" charset="0"/>
                <a:ea typeface="Calibri" pitchFamily="34" charset="-122"/>
                <a:cs typeface="Calibri" pitchFamily="34" charset="-120"/>
              </a:rPr>
              <a:t>System Architecture: Audit Workflow</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Arpita Srivastava | 2410030177 | IILM University</a:t>
            </a:r>
            <a:endParaRPr lang="en-US" sz="1000" dirty="0"/>
          </a:p>
        </p:txBody>
      </p:sp>
      <p:sp>
        <p:nvSpPr>
          <p:cNvPr id="4" name="Shape 2"/>
          <p:cNvSpPr/>
          <p:nvPr/>
        </p:nvSpPr>
        <p:spPr>
          <a:xfrm>
            <a:off x="457200" y="1463040"/>
            <a:ext cx="1234440" cy="640080"/>
          </a:xfrm>
          <a:prstGeom prst="roundRect">
            <a:avLst>
              <a:gd name="adj" fmla="val 11429"/>
            </a:avLst>
          </a:prstGeom>
          <a:solidFill>
            <a:srgbClr val="14284B"/>
          </a:solidFill>
          <a:ln w="12700">
            <a:solidFill>
              <a:srgbClr val="14284B"/>
            </a:solidFill>
            <a:prstDash val="solid"/>
          </a:ln>
        </p:spPr>
      </p:sp>
      <p:sp>
        <p:nvSpPr>
          <p:cNvPr id="5" name="Text 3"/>
          <p:cNvSpPr txBox="1"/>
          <p:nvPr/>
        </p:nvSpPr>
        <p:spPr>
          <a:xfrm>
            <a:off x="457200" y="1463040"/>
            <a:ext cx="123444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Understand</a:t>
            </a:r>
            <a:endParaRPr lang="en-US" sz="1400" dirty="0"/>
          </a:p>
        </p:txBody>
      </p:sp>
      <p:sp>
        <p:nvSpPr>
          <p:cNvPr id="6" name="Text 4"/>
          <p:cNvSpPr txBox="1"/>
          <p:nvPr/>
        </p:nvSpPr>
        <p:spPr>
          <a:xfrm>
            <a:off x="457200" y="2240280"/>
            <a:ext cx="1234440" cy="82296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Business and its objectives</a:t>
            </a:r>
            <a:endParaRPr lang="en-US" sz="1150" dirty="0"/>
          </a:p>
        </p:txBody>
      </p:sp>
      <p:sp>
        <p:nvSpPr>
          <p:cNvPr id="7" name="Shape 5"/>
          <p:cNvSpPr/>
          <p:nvPr/>
        </p:nvSpPr>
        <p:spPr>
          <a:xfrm>
            <a:off x="1828800" y="1463040"/>
            <a:ext cx="1234440" cy="640080"/>
          </a:xfrm>
          <a:prstGeom prst="roundRect">
            <a:avLst>
              <a:gd name="adj" fmla="val 11429"/>
            </a:avLst>
          </a:prstGeom>
          <a:solidFill>
            <a:srgbClr val="4569B0"/>
          </a:solidFill>
          <a:ln w="12700">
            <a:solidFill>
              <a:srgbClr val="4569B0"/>
            </a:solidFill>
            <a:prstDash val="solid"/>
          </a:ln>
        </p:spPr>
      </p:sp>
      <p:sp>
        <p:nvSpPr>
          <p:cNvPr id="8" name="Text 6"/>
          <p:cNvSpPr txBox="1"/>
          <p:nvPr/>
        </p:nvSpPr>
        <p:spPr>
          <a:xfrm>
            <a:off x="1828800" y="1463040"/>
            <a:ext cx="123444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Identify</a:t>
            </a:r>
            <a:endParaRPr lang="en-US" sz="1400" dirty="0"/>
          </a:p>
        </p:txBody>
      </p:sp>
      <p:sp>
        <p:nvSpPr>
          <p:cNvPr id="9" name="Text 7"/>
          <p:cNvSpPr txBox="1"/>
          <p:nvPr/>
        </p:nvSpPr>
        <p:spPr>
          <a:xfrm>
            <a:off x="1828800" y="2240280"/>
            <a:ext cx="1234440" cy="82296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Risks that threaten objectives</a:t>
            </a:r>
            <a:endParaRPr lang="en-US" sz="1150" dirty="0"/>
          </a:p>
        </p:txBody>
      </p:sp>
      <p:sp>
        <p:nvSpPr>
          <p:cNvPr id="10" name="Shape 8"/>
          <p:cNvSpPr/>
          <p:nvPr/>
        </p:nvSpPr>
        <p:spPr>
          <a:xfrm>
            <a:off x="3200400" y="1463040"/>
            <a:ext cx="1234440" cy="640080"/>
          </a:xfrm>
          <a:prstGeom prst="roundRect">
            <a:avLst>
              <a:gd name="adj" fmla="val 11429"/>
            </a:avLst>
          </a:prstGeom>
          <a:solidFill>
            <a:srgbClr val="14284B"/>
          </a:solidFill>
          <a:ln w="12700">
            <a:solidFill>
              <a:srgbClr val="14284B"/>
            </a:solidFill>
            <a:prstDash val="solid"/>
          </a:ln>
        </p:spPr>
      </p:sp>
      <p:sp>
        <p:nvSpPr>
          <p:cNvPr id="11" name="Text 9"/>
          <p:cNvSpPr txBox="1"/>
          <p:nvPr/>
        </p:nvSpPr>
        <p:spPr>
          <a:xfrm>
            <a:off x="3200400" y="1463040"/>
            <a:ext cx="123444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Assess</a:t>
            </a:r>
            <a:endParaRPr lang="en-US" sz="1400" dirty="0"/>
          </a:p>
        </p:txBody>
      </p:sp>
      <p:sp>
        <p:nvSpPr>
          <p:cNvPr id="12" name="Text 10"/>
          <p:cNvSpPr txBox="1"/>
          <p:nvPr/>
        </p:nvSpPr>
        <p:spPr>
          <a:xfrm>
            <a:off x="3200400" y="2240280"/>
            <a:ext cx="1234440" cy="82296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Rate likelihood and impact</a:t>
            </a:r>
            <a:endParaRPr lang="en-US" sz="1150" dirty="0"/>
          </a:p>
        </p:txBody>
      </p:sp>
      <p:sp>
        <p:nvSpPr>
          <p:cNvPr id="13" name="Shape 11"/>
          <p:cNvSpPr/>
          <p:nvPr/>
        </p:nvSpPr>
        <p:spPr>
          <a:xfrm>
            <a:off x="4572000" y="1463040"/>
            <a:ext cx="1234440" cy="640080"/>
          </a:xfrm>
          <a:prstGeom prst="roundRect">
            <a:avLst>
              <a:gd name="adj" fmla="val 11429"/>
            </a:avLst>
          </a:prstGeom>
          <a:solidFill>
            <a:srgbClr val="4569B0"/>
          </a:solidFill>
          <a:ln w="12700">
            <a:solidFill>
              <a:srgbClr val="4569B0"/>
            </a:solidFill>
            <a:prstDash val="solid"/>
          </a:ln>
        </p:spPr>
      </p:sp>
      <p:sp>
        <p:nvSpPr>
          <p:cNvPr id="14" name="Text 12"/>
          <p:cNvSpPr txBox="1"/>
          <p:nvPr/>
        </p:nvSpPr>
        <p:spPr>
          <a:xfrm>
            <a:off x="4572000" y="1463040"/>
            <a:ext cx="123444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Controls</a:t>
            </a:r>
            <a:endParaRPr lang="en-US" sz="1400" dirty="0"/>
          </a:p>
        </p:txBody>
      </p:sp>
      <p:sp>
        <p:nvSpPr>
          <p:cNvPr id="15" name="Text 13"/>
          <p:cNvSpPr txBox="1"/>
          <p:nvPr/>
        </p:nvSpPr>
        <p:spPr>
          <a:xfrm>
            <a:off x="4572000" y="2240280"/>
            <a:ext cx="1234440" cy="82296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Evaluate control effectiveness</a:t>
            </a:r>
            <a:endParaRPr lang="en-US" sz="1150" dirty="0"/>
          </a:p>
        </p:txBody>
      </p:sp>
      <p:sp>
        <p:nvSpPr>
          <p:cNvPr id="16" name="Shape 14"/>
          <p:cNvSpPr/>
          <p:nvPr/>
        </p:nvSpPr>
        <p:spPr>
          <a:xfrm>
            <a:off x="5943600" y="1463040"/>
            <a:ext cx="1234440" cy="640080"/>
          </a:xfrm>
          <a:prstGeom prst="roundRect">
            <a:avLst>
              <a:gd name="adj" fmla="val 11429"/>
            </a:avLst>
          </a:prstGeom>
          <a:solidFill>
            <a:srgbClr val="14284B"/>
          </a:solidFill>
          <a:ln w="12700">
            <a:solidFill>
              <a:srgbClr val="14284B"/>
            </a:solidFill>
            <a:prstDash val="solid"/>
          </a:ln>
        </p:spPr>
      </p:sp>
      <p:sp>
        <p:nvSpPr>
          <p:cNvPr id="17" name="Text 15"/>
          <p:cNvSpPr txBox="1"/>
          <p:nvPr/>
        </p:nvSpPr>
        <p:spPr>
          <a:xfrm>
            <a:off x="5943600" y="1463040"/>
            <a:ext cx="123444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Report</a:t>
            </a:r>
            <a:endParaRPr lang="en-US" sz="1400" dirty="0"/>
          </a:p>
        </p:txBody>
      </p:sp>
      <p:sp>
        <p:nvSpPr>
          <p:cNvPr id="18" name="Text 16"/>
          <p:cNvSpPr txBox="1"/>
          <p:nvPr/>
        </p:nvSpPr>
        <p:spPr>
          <a:xfrm>
            <a:off x="5943600" y="2240280"/>
            <a:ext cx="1234440" cy="82296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Communicate observations</a:t>
            </a:r>
            <a:endParaRPr lang="en-US" sz="1150" dirty="0"/>
          </a:p>
        </p:txBody>
      </p:sp>
      <p:sp>
        <p:nvSpPr>
          <p:cNvPr id="19" name="Shape 17"/>
          <p:cNvSpPr/>
          <p:nvPr/>
        </p:nvSpPr>
        <p:spPr>
          <a:xfrm>
            <a:off x="7315200" y="1463040"/>
            <a:ext cx="1234440" cy="640080"/>
          </a:xfrm>
          <a:prstGeom prst="roundRect">
            <a:avLst>
              <a:gd name="adj" fmla="val 11429"/>
            </a:avLst>
          </a:prstGeom>
          <a:solidFill>
            <a:srgbClr val="4569B0"/>
          </a:solidFill>
          <a:ln w="12700">
            <a:solidFill>
              <a:srgbClr val="4569B0"/>
            </a:solidFill>
            <a:prstDash val="solid"/>
          </a:ln>
        </p:spPr>
      </p:sp>
      <p:sp>
        <p:nvSpPr>
          <p:cNvPr id="20" name="Text 18"/>
          <p:cNvSpPr txBox="1"/>
          <p:nvPr/>
        </p:nvSpPr>
        <p:spPr>
          <a:xfrm>
            <a:off x="7315200" y="1463040"/>
            <a:ext cx="123444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Follow-up</a:t>
            </a:r>
            <a:endParaRPr lang="en-US" sz="1400" dirty="0"/>
          </a:p>
        </p:txBody>
      </p:sp>
      <p:sp>
        <p:nvSpPr>
          <p:cNvPr id="21" name="Text 19"/>
          <p:cNvSpPr txBox="1"/>
          <p:nvPr/>
        </p:nvSpPr>
        <p:spPr>
          <a:xfrm>
            <a:off x="7315200" y="2240280"/>
            <a:ext cx="1234440" cy="822960"/>
          </a:xfrm>
          <a:prstGeom prst="rect">
            <a:avLst/>
          </a:prstGeom>
          <a:noFill/>
          <a:ln/>
        </p:spPr>
        <p:txBody>
          <a:bodyPr wrap="square" lIns="0" tIns="0" rIns="0" bIns="0" rtlCol="0" anchor="t"/>
          <a:lstStyle/>
          <a:p>
            <a:pPr algn="ctr" indent="0" marL="0">
              <a:buNone/>
            </a:pPr>
            <a:r>
              <a:rPr lang="en-US" sz="1150" dirty="0">
                <a:solidFill>
                  <a:srgbClr val="1F2937"/>
                </a:solidFill>
                <a:latin typeface="Calibri" pitchFamily="34" charset="0"/>
                <a:ea typeface="Calibri" pitchFamily="34" charset="-122"/>
                <a:cs typeface="Calibri" pitchFamily="34" charset="-120"/>
              </a:rPr>
              <a:t>Track agreed actions</a:t>
            </a:r>
            <a:endParaRPr lang="en-US" sz="1150" dirty="0"/>
          </a:p>
        </p:txBody>
      </p:sp>
      <p:sp>
        <p:nvSpPr>
          <p:cNvPr id="22" name="Text 20"/>
          <p:cNvSpPr txBox="1"/>
          <p:nvPr/>
        </p:nvSpPr>
        <p:spPr>
          <a:xfrm>
            <a:off x="457200" y="3566160"/>
            <a:ext cx="8229600" cy="457200"/>
          </a:xfrm>
          <a:prstGeom prst="rect">
            <a:avLst/>
          </a:prstGeom>
          <a:noFill/>
          <a:ln/>
        </p:spPr>
        <p:txBody>
          <a:bodyPr wrap="square" lIns="0" tIns="0" rIns="0" bIns="0" rtlCol="0" anchor="ctr"/>
          <a:lstStyle/>
          <a:p>
            <a:pPr algn="ctr" indent="0" marL="0">
              <a:buNone/>
            </a:pPr>
            <a:r>
              <a:rPr lang="en-US" sz="1400" i="1" dirty="0">
                <a:solidFill>
                  <a:srgbClr val="4569B0"/>
                </a:solidFill>
                <a:latin typeface="Calibri" pitchFamily="34" charset="0"/>
                <a:ea typeface="Calibri" pitchFamily="34" charset="-122"/>
                <a:cs typeface="Calibri" pitchFamily="34" charset="-120"/>
              </a:rPr>
              <a:t>Each stage feeds the next, moving from understanding the business to tracking improvements.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84B"/>
                </a:solidFill>
                <a:latin typeface="Calibri" pitchFamily="34" charset="0"/>
                <a:ea typeface="Calibri" pitchFamily="34" charset="-122"/>
                <a:cs typeface="Calibri" pitchFamily="34" charset="-120"/>
              </a:rPr>
              <a:t>Methodology: Task-wise Approach</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Arpita Srivastava | 2410030177 | IILM University</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731520"/>
                <a:gridCol w="3017520"/>
                <a:gridCol w="448056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Task</a:t>
                      </a:r>
                      <a:endParaRPr lang="en-US" sz="1300" dirty="0">
                        <a:latin typeface="Calibri" charset="0"/>
                        <a:ea typeface="Calibri" charset="0"/>
                        <a:cs typeface="Calibri" charset="0"/>
                      </a:endParaRPr>
                    </a:p>
                  </a:txBody>
                  <a:tcPr marL="109728" marR="109728" marT="45720" marB="45720">
                    <a:lnL w="9525" cap="flat" cmpd="sng" algn="ctr">
                      <a:solidFill>
                        <a:srgbClr val="D1D9EA"/>
                      </a:solidFill>
                      <a:prstDash val="solid"/>
                      <a:round/>
                      <a:headEnd type="none" w="med" len="med"/>
                      <a:tailEnd type="none" w="med" len="med"/>
                    </a:lnL>
                    <a:lnR w="9525" cap="flat" cmpd="sng" algn="ctr">
                      <a:solidFill>
                        <a:srgbClr val="D1D9EA"/>
                      </a:solidFill>
                      <a:prstDash val="solid"/>
                      <a:round/>
                      <a:headEnd type="none" w="med" len="med"/>
                      <a:tailEnd type="none" w="med" len="med"/>
                    </a:lnR>
                    <a:lnT w="9525" cap="flat" cmpd="sng" algn="ctr">
                      <a:solidFill>
                        <a:srgbClr val="D1D9EA"/>
                      </a:solidFill>
                      <a:prstDash val="solid"/>
                      <a:round/>
                      <a:headEnd type="none" w="med" len="med"/>
                      <a:tailEnd type="none" w="med" len="med"/>
                    </a:lnT>
                    <a:lnB w="9525" cap="flat" cmpd="sng" algn="ctr">
                      <a:solidFill>
                        <a:srgbClr val="D1D9EA"/>
                      </a:solidFill>
                      <a:prstDash val="solid"/>
                      <a:round/>
                      <a:headEnd type="none" w="med" len="med"/>
                      <a:tailEnd type="none" w="med" len="med"/>
                    </a:lnB>
                    <a:solidFill>
                      <a:srgbClr val="1428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Module</a:t>
                      </a:r>
                      <a:endParaRPr lang="en-US" sz="1300" dirty="0">
                        <a:latin typeface="Calibri" charset="0"/>
                        <a:ea typeface="Calibri" charset="0"/>
                        <a:cs typeface="Calibri" charset="0"/>
                      </a:endParaRPr>
                    </a:p>
                  </a:txBody>
                  <a:tcPr marL="109728" marR="109728" marT="45720" marB="45720">
                    <a:lnL w="9525" cap="flat" cmpd="sng" algn="ctr">
                      <a:solidFill>
                        <a:srgbClr val="D1D9EA"/>
                      </a:solidFill>
                      <a:prstDash val="solid"/>
                      <a:round/>
                      <a:headEnd type="none" w="med" len="med"/>
                      <a:tailEnd type="none" w="med" len="med"/>
                    </a:lnL>
                    <a:lnR w="9525" cap="flat" cmpd="sng" algn="ctr">
                      <a:solidFill>
                        <a:srgbClr val="D1D9EA"/>
                      </a:solidFill>
                      <a:prstDash val="solid"/>
                      <a:round/>
                      <a:headEnd type="none" w="med" len="med"/>
                      <a:tailEnd type="none" w="med" len="med"/>
                    </a:lnR>
                    <a:lnT w="9525" cap="flat" cmpd="sng" algn="ctr">
                      <a:solidFill>
                        <a:srgbClr val="D1D9EA"/>
                      </a:solidFill>
                      <a:prstDash val="solid"/>
                      <a:round/>
                      <a:headEnd type="none" w="med" len="med"/>
                      <a:tailEnd type="none" w="med" len="med"/>
                    </a:lnT>
                    <a:lnB w="9525" cap="flat" cmpd="sng" algn="ctr">
                      <a:solidFill>
                        <a:srgbClr val="D1D9EA"/>
                      </a:solidFill>
                      <a:prstDash val="solid"/>
                      <a:round/>
                      <a:headEnd type="none" w="med" len="med"/>
                      <a:tailEnd type="none" w="med" len="med"/>
                    </a:lnB>
                    <a:solidFill>
                      <a:srgbClr val="14284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Description</a:t>
                      </a:r>
                      <a:endParaRPr lang="en-US" sz="1300" dirty="0">
                        <a:latin typeface="Calibri" charset="0"/>
                        <a:ea typeface="Calibri" charset="0"/>
                        <a:cs typeface="Calibri" charset="0"/>
                      </a:endParaRPr>
                    </a:p>
                  </a:txBody>
                  <a:tcPr marL="109728" marR="109728" marT="45720" marB="45720">
                    <a:lnL w="9525" cap="flat" cmpd="sng" algn="ctr">
                      <a:solidFill>
                        <a:srgbClr val="D1D9EA"/>
                      </a:solidFill>
                      <a:prstDash val="solid"/>
                      <a:round/>
                      <a:headEnd type="none" w="med" len="med"/>
                      <a:tailEnd type="none" w="med" len="med"/>
                    </a:lnL>
                    <a:lnR w="9525" cap="flat" cmpd="sng" algn="ctr">
                      <a:solidFill>
                        <a:srgbClr val="D1D9EA"/>
                      </a:solidFill>
                      <a:prstDash val="solid"/>
                      <a:round/>
                      <a:headEnd type="none" w="med" len="med"/>
                      <a:tailEnd type="none" w="med" len="med"/>
                    </a:lnR>
                    <a:lnT w="9525" cap="flat" cmpd="sng" algn="ctr">
                      <a:solidFill>
                        <a:srgbClr val="D1D9EA"/>
                      </a:solidFill>
                      <a:prstDash val="solid"/>
                      <a:round/>
                      <a:headEnd type="none" w="med" len="med"/>
                      <a:tailEnd type="none" w="med" len="med"/>
                    </a:lnT>
                    <a:lnB w="9525" cap="flat" cmpd="sng" algn="ctr">
                      <a:solidFill>
                        <a:srgbClr val="D1D9EA"/>
                      </a:solidFill>
                      <a:prstDash val="solid"/>
                      <a:round/>
                      <a:headEnd type="none" w="med" len="med"/>
                      <a:tailEnd type="none" w="med" len="med"/>
                    </a:lnB>
                    <a:solidFill>
                      <a:srgbClr val="14284B"/>
                    </a:solidFill>
                  </a:tcPr>
                </a:tc>
              </a:tr>
              <a:tr h="91440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109728" marR="109728" marT="45720" marB="45720" anchor="ctr">
                    <a:lnL w="9525" cap="flat" cmpd="sng" algn="ctr">
                      <a:solidFill>
                        <a:srgbClr val="D1D9EA"/>
                      </a:solidFill>
                      <a:prstDash val="solid"/>
                      <a:round/>
                      <a:headEnd type="none" w="med" len="med"/>
                      <a:tailEnd type="none" w="med" len="med"/>
                    </a:lnL>
                    <a:lnR w="9525" cap="flat" cmpd="sng" algn="ctr">
                      <a:solidFill>
                        <a:srgbClr val="D1D9EA"/>
                      </a:solidFill>
                      <a:prstDash val="solid"/>
                      <a:round/>
                      <a:headEnd type="none" w="med" len="med"/>
                      <a:tailEnd type="none" w="med" len="med"/>
                    </a:lnR>
                    <a:lnT w="9525" cap="flat" cmpd="sng" algn="ctr">
                      <a:solidFill>
                        <a:srgbClr val="D1D9EA"/>
                      </a:solidFill>
                      <a:prstDash val="solid"/>
                      <a:round/>
                      <a:headEnd type="none" w="med" len="med"/>
                      <a:tailEnd type="none" w="med" len="med"/>
                    </a:lnT>
                    <a:lnB w="9525" cap="flat" cmpd="sng" algn="ctr">
                      <a:solidFill>
                        <a:srgbClr val="D1D9EA"/>
                      </a:solidFill>
                      <a:prstDash val="solid"/>
                      <a:round/>
                      <a:headEnd type="none" w="med" len="med"/>
                      <a:tailEnd type="none" w="med" len="med"/>
                    </a:lnB>
                    <a:solidFill>
                      <a:srgbClr val="EEF2FA"/>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Foundations of Internal Audit</a:t>
                      </a:r>
                      <a:endParaRPr lang="en-US" sz="1300" dirty="0">
                        <a:latin typeface="Calibri" charset="0"/>
                        <a:ea typeface="Calibri" charset="0"/>
                        <a:cs typeface="Calibri" charset="0"/>
                      </a:endParaRPr>
                    </a:p>
                  </a:txBody>
                  <a:tcPr marL="109728" marR="109728" marT="45720" marB="45720" anchor="ctr">
                    <a:lnL w="9525" cap="flat" cmpd="sng" algn="ctr">
                      <a:solidFill>
                        <a:srgbClr val="D1D9EA"/>
                      </a:solidFill>
                      <a:prstDash val="solid"/>
                      <a:round/>
                      <a:headEnd type="none" w="med" len="med"/>
                      <a:tailEnd type="none" w="med" len="med"/>
                    </a:lnL>
                    <a:lnR w="9525" cap="flat" cmpd="sng" algn="ctr">
                      <a:solidFill>
                        <a:srgbClr val="D1D9EA"/>
                      </a:solidFill>
                      <a:prstDash val="solid"/>
                      <a:round/>
                      <a:headEnd type="none" w="med" len="med"/>
                      <a:tailEnd type="none" w="med" len="med"/>
                    </a:lnR>
                    <a:lnT w="9525" cap="flat" cmpd="sng" algn="ctr">
                      <a:solidFill>
                        <a:srgbClr val="D1D9EA"/>
                      </a:solidFill>
                      <a:prstDash val="solid"/>
                      <a:round/>
                      <a:headEnd type="none" w="med" len="med"/>
                      <a:tailEnd type="none" w="med" len="med"/>
                    </a:lnT>
                    <a:lnB w="9525" cap="flat" cmpd="sng" algn="ctr">
                      <a:solidFill>
                        <a:srgbClr val="D1D9EA"/>
                      </a:solidFill>
                      <a:prstDash val="solid"/>
                      <a:round/>
                      <a:headEnd type="none" w="med" len="med"/>
                      <a:tailEnd type="none" w="med" len="med"/>
                    </a:lnB>
                    <a:solidFill>
                      <a:srgbClr val="EEF2FA"/>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Learned the purpose of internal audit, its role in governance, risk management and control, and the stages of an audit engagement</a:t>
                      </a:r>
                      <a:endParaRPr lang="en-US" sz="1300" dirty="0">
                        <a:latin typeface="Calibri" charset="0"/>
                        <a:ea typeface="Calibri" charset="0"/>
                        <a:cs typeface="Calibri" charset="0"/>
                      </a:endParaRPr>
                    </a:p>
                  </a:txBody>
                  <a:tcPr marL="109728" marR="109728" marT="45720" marB="45720" anchor="ctr">
                    <a:lnL w="9525" cap="flat" cmpd="sng" algn="ctr">
                      <a:solidFill>
                        <a:srgbClr val="D1D9EA"/>
                      </a:solidFill>
                      <a:prstDash val="solid"/>
                      <a:round/>
                      <a:headEnd type="none" w="med" len="med"/>
                      <a:tailEnd type="none" w="med" len="med"/>
                    </a:lnL>
                    <a:lnR w="9525" cap="flat" cmpd="sng" algn="ctr">
                      <a:solidFill>
                        <a:srgbClr val="D1D9EA"/>
                      </a:solidFill>
                      <a:prstDash val="solid"/>
                      <a:round/>
                      <a:headEnd type="none" w="med" len="med"/>
                      <a:tailEnd type="none" w="med" len="med"/>
                    </a:lnR>
                    <a:lnT w="9525" cap="flat" cmpd="sng" algn="ctr">
                      <a:solidFill>
                        <a:srgbClr val="D1D9EA"/>
                      </a:solidFill>
                      <a:prstDash val="solid"/>
                      <a:round/>
                      <a:headEnd type="none" w="med" len="med"/>
                      <a:tailEnd type="none" w="med" len="med"/>
                    </a:lnT>
                    <a:lnB w="9525" cap="flat" cmpd="sng" algn="ctr">
                      <a:solidFill>
                        <a:srgbClr val="D1D9EA"/>
                      </a:solidFill>
                      <a:prstDash val="solid"/>
                      <a:round/>
                      <a:headEnd type="none" w="med" len="med"/>
                      <a:tailEnd type="none" w="med" len="med"/>
                    </a:lnB>
                    <a:solidFill>
                      <a:srgbClr val="EEF2FA"/>
                    </a:solidFill>
                  </a:tcPr>
                </a:tc>
              </a:tr>
              <a:tr h="91440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109728" marR="109728" marT="45720" marB="45720" anchor="ctr">
                    <a:lnL w="9525" cap="flat" cmpd="sng" algn="ctr">
                      <a:solidFill>
                        <a:srgbClr val="D1D9EA"/>
                      </a:solidFill>
                      <a:prstDash val="solid"/>
                      <a:round/>
                      <a:headEnd type="none" w="med" len="med"/>
                      <a:tailEnd type="none" w="med" len="med"/>
                    </a:lnL>
                    <a:lnR w="9525" cap="flat" cmpd="sng" algn="ctr">
                      <a:solidFill>
                        <a:srgbClr val="D1D9EA"/>
                      </a:solidFill>
                      <a:prstDash val="solid"/>
                      <a:round/>
                      <a:headEnd type="none" w="med" len="med"/>
                      <a:tailEnd type="none" w="med" len="med"/>
                    </a:lnR>
                    <a:lnT w="9525" cap="flat" cmpd="sng" algn="ctr">
                      <a:solidFill>
                        <a:srgbClr val="D1D9EA"/>
                      </a:solidFill>
                      <a:prstDash val="solid"/>
                      <a:round/>
                      <a:headEnd type="none" w="med" len="med"/>
                      <a:tailEnd type="none" w="med" len="med"/>
                    </a:lnT>
                    <a:lnB w="9525" cap="flat" cmpd="sng" algn="ctr">
                      <a:solidFill>
                        <a:srgbClr val="D1D9EA"/>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Risk Assessment in Global Banking &amp; Markets</a:t>
                      </a:r>
                      <a:endParaRPr lang="en-US" sz="1300" dirty="0">
                        <a:latin typeface="Calibri" charset="0"/>
                        <a:ea typeface="Calibri" charset="0"/>
                        <a:cs typeface="Calibri" charset="0"/>
                      </a:endParaRPr>
                    </a:p>
                  </a:txBody>
                  <a:tcPr marL="109728" marR="109728" marT="45720" marB="45720" anchor="ctr">
                    <a:lnL w="9525" cap="flat" cmpd="sng" algn="ctr">
                      <a:solidFill>
                        <a:srgbClr val="D1D9EA"/>
                      </a:solidFill>
                      <a:prstDash val="solid"/>
                      <a:round/>
                      <a:headEnd type="none" w="med" len="med"/>
                      <a:tailEnd type="none" w="med" len="med"/>
                    </a:lnL>
                    <a:lnR w="9525" cap="flat" cmpd="sng" algn="ctr">
                      <a:solidFill>
                        <a:srgbClr val="D1D9EA"/>
                      </a:solidFill>
                      <a:prstDash val="solid"/>
                      <a:round/>
                      <a:headEnd type="none" w="med" len="med"/>
                      <a:tailEnd type="none" w="med" len="med"/>
                    </a:lnR>
                    <a:lnT w="9525" cap="flat" cmpd="sng" algn="ctr">
                      <a:solidFill>
                        <a:srgbClr val="D1D9EA"/>
                      </a:solidFill>
                      <a:prstDash val="solid"/>
                      <a:round/>
                      <a:headEnd type="none" w="med" len="med"/>
                      <a:tailEnd type="none" w="med" len="med"/>
                    </a:lnT>
                    <a:lnB w="9525" cap="flat" cmpd="sng" algn="ctr">
                      <a:solidFill>
                        <a:srgbClr val="D1D9EA"/>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Applied risk-based thinking to identify key risks, assess likelihood and impact, and prioritise areas for audit attention</a:t>
                      </a:r>
                      <a:endParaRPr lang="en-US" sz="1300" dirty="0">
                        <a:latin typeface="Calibri" charset="0"/>
                        <a:ea typeface="Calibri" charset="0"/>
                        <a:cs typeface="Calibri" charset="0"/>
                      </a:endParaRPr>
                    </a:p>
                  </a:txBody>
                  <a:tcPr marL="109728" marR="109728" marT="45720" marB="45720" anchor="ctr">
                    <a:lnL w="9525" cap="flat" cmpd="sng" algn="ctr">
                      <a:solidFill>
                        <a:srgbClr val="D1D9EA"/>
                      </a:solidFill>
                      <a:prstDash val="solid"/>
                      <a:round/>
                      <a:headEnd type="none" w="med" len="med"/>
                      <a:tailEnd type="none" w="med" len="med"/>
                    </a:lnL>
                    <a:lnR w="9525" cap="flat" cmpd="sng" algn="ctr">
                      <a:solidFill>
                        <a:srgbClr val="D1D9EA"/>
                      </a:solidFill>
                      <a:prstDash val="solid"/>
                      <a:round/>
                      <a:headEnd type="none" w="med" len="med"/>
                      <a:tailEnd type="none" w="med" len="med"/>
                    </a:lnR>
                    <a:lnT w="9525" cap="flat" cmpd="sng" algn="ctr">
                      <a:solidFill>
                        <a:srgbClr val="D1D9EA"/>
                      </a:solidFill>
                      <a:prstDash val="solid"/>
                      <a:round/>
                      <a:headEnd type="none" w="med" len="med"/>
                      <a:tailEnd type="none" w="med" len="med"/>
                    </a:lnT>
                    <a:lnB w="9525" cap="flat" cmpd="sng" algn="ctr">
                      <a:solidFill>
                        <a:srgbClr val="D1D9EA"/>
                      </a:solidFill>
                      <a:prstDash val="solid"/>
                      <a:round/>
                      <a:headEnd type="none" w="med" len="med"/>
                      <a:tailEnd type="none" w="med" len="med"/>
                    </a:lnB>
                  </a:tcPr>
                </a:tc>
              </a:tr>
            </a:tbl>
          </a:graphicData>
        </a:graphic>
      </p:graphicFrame>
      <p:sp>
        <p:nvSpPr>
          <p:cNvPr id="5" name="Text 2"/>
          <p:cNvSpPr txBox="1"/>
          <p:nvPr/>
        </p:nvSpPr>
        <p:spPr>
          <a:xfrm>
            <a:off x="457200" y="3566160"/>
            <a:ext cx="8229600" cy="457200"/>
          </a:xfrm>
          <a:prstGeom prst="rect">
            <a:avLst/>
          </a:prstGeom>
          <a:noFill/>
          <a:ln/>
        </p:spPr>
        <p:txBody>
          <a:bodyPr wrap="square" lIns="0" tIns="0" rIns="0" bIns="0" rtlCol="0" anchor="ctr"/>
          <a:lstStyle/>
          <a:p>
            <a:pPr indent="0" marL="0">
              <a:buNone/>
            </a:pPr>
            <a:r>
              <a:rPr lang="en-US" sz="1400" i="1" dirty="0">
                <a:solidFill>
                  <a:srgbClr val="4569B0"/>
                </a:solidFill>
                <a:latin typeface="Calibri" pitchFamily="34" charset="0"/>
                <a:ea typeface="Calibri" pitchFamily="34" charset="-122"/>
                <a:cs typeface="Calibri" pitchFamily="34" charset="-120"/>
              </a:rPr>
              <a:t>The foundations learned in Task 1 provided the framework used to carry out the risk assessment in Task 2.</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14284B"/>
                </a:solidFill>
                <a:latin typeface="Calibri" pitchFamily="34" charset="0"/>
                <a:ea typeface="Calibri" pitchFamily="34" charset="-122"/>
                <a:cs typeface="Calibri" pitchFamily="34" charset="-120"/>
              </a:rPr>
              <a:t>Outcomes &amp; Certificate of Completion</a:t>
            </a:r>
            <a:endParaRPr lang="en-US" sz="2600" dirty="0"/>
          </a:p>
        </p:txBody>
      </p:sp>
      <p:sp>
        <p:nvSpPr>
          <p:cNvPr id="3" name="Text 1"/>
          <p:cNvSpPr txBox="1"/>
          <p:nvPr/>
        </p:nvSpPr>
        <p:spPr>
          <a:xfrm>
            <a:off x="457200" y="4754880"/>
            <a:ext cx="5486400" cy="22860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Arpita Srivastava | 2410030177 | IILM University</a:t>
            </a:r>
            <a:endParaRPr lang="en-US" sz="1000" dirty="0"/>
          </a:p>
        </p:txBody>
      </p:sp>
      <p:sp>
        <p:nvSpPr>
          <p:cNvPr id="4" name="Text 2"/>
          <p:cNvSpPr txBox="1"/>
          <p:nvPr/>
        </p:nvSpPr>
        <p:spPr>
          <a:xfrm>
            <a:off x="457200" y="1097280"/>
            <a:ext cx="3840480" cy="32918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Understand the role of internal audit in a financial institution</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Know the audit stages and the risk-based approach</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Identify and assess risks in banking and markets</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Understand how internal controls reduce risk</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Communicate findings clearly</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Certificate of Completion issued via Forage</a:t>
            </a:r>
            <a:endParaRPr lang="en-US" sz="1300" dirty="0"/>
          </a:p>
        </p:txBody>
      </p:sp>
      <p:pic>
        <p:nvPicPr>
          <p:cNvPr id="5" name="Image 0" descr="cert2-1.png">    </p:cNvPr>
          <p:cNvPicPr>
            <a:picLocks noChangeAspect="1"/>
          </p:cNvPicPr>
          <p:nvPr/>
        </p:nvPicPr>
        <p:blipFill>
          <a:blip r:embed="rId1"/>
          <a:stretch>
            <a:fillRect/>
          </a:stretch>
        </p:blipFill>
        <p:spPr>
          <a:xfrm>
            <a:off x="4526280" y="1280160"/>
            <a:ext cx="4160520" cy="2939083"/>
          </a:xfrm>
          <a:prstGeom prst="rect">
            <a:avLst/>
          </a:prstGeom>
          <a:effectLst>
            <a:outerShdw sx="100000" sy="100000" kx="0" ky="0" algn="bl" rotWithShape="0" blurRad="76200" dist="25400" dir="5400000">
              <a:srgbClr val="000000">
                <a:alpha val="25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2026-09-20T17:15:09Z</dcterms:created>
  <dcterms:modified xsi:type="dcterms:W3CDTF">2026-09-20T17:15:09Z</dcterms:modified>
</cp:coreProperties>
</file>